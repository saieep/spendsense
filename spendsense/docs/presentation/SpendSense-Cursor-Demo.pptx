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572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 — OPENING (0:00–1:00)</a:t>
            </a:r>
          </a:p>
          <a:p>
            <a:endParaRPr/>
          </a:p>
          <a:p>
            <a:r>
              <a:t>[ON SCREEN: Slide 1]</a:t>
            </a:r>
          </a:p>
          <a:p>
            <a:endParaRPr/>
          </a:p>
          <a:p>
            <a:r>
              <a:t>SAY:</a:t>
            </a:r>
          </a:p>
          <a:p>
            <a:r>
              <a:t>"Good [morning/afternoon/evening], everyone. Thank you for joining this session.</a:t>
            </a:r>
          </a:p>
          <a:p>
            <a:endParaRPr/>
          </a:p>
          <a:p>
            <a:r>
              <a:t>My name is [Your Name], and today I will walk you through SpendSense — a personal expense tracker with AI-powered insights that we delivered as part of a structured seventeen-day MVP sprint.</a:t>
            </a:r>
          </a:p>
          <a:p>
            <a:endParaRPr/>
          </a:p>
          <a:p>
            <a:r>
              <a:t>SpendSense provides JWT-based authentication, category and expense management, an interactive dashboard with charts, Gemini-powered expense categorisation and spending insights, and CSV import and export. The technology stack comprises Spring Boot 3 with SQLite on the backend, React 19 with Vite on the frontend, and a comprehensive test suite spanning JUnit and MockMvc, Vitest with React Testing Library, and Playwright end-to-end tests.</a:t>
            </a:r>
          </a:p>
          <a:p>
            <a:endParaRPr/>
          </a:p>
          <a:p>
            <a:r>
              <a:t>The purpose of this presentation is not solely to demonstrate the application. Our primary objective is to illustrate how we used Cursor to accelerate delivery while maintaining engineering discipline — through written plans, scoped agent skills, and test-driven completion criteria.</a:t>
            </a:r>
          </a:p>
          <a:p>
            <a:endParaRPr/>
          </a:p>
          <a:p>
            <a:r>
              <a:t>I will begin with our Cursor workflow in the repository, follow with a concise live demonstration of the application, and conclude with the challenges we encountered and the practices that addressed them.</a:t>
            </a:r>
          </a:p>
          <a:p>
            <a:endParaRPr/>
          </a:p>
          <a:p>
            <a:r>
              <a:t>Let me switch to the codebase."</a:t>
            </a:r>
          </a:p>
          <a:p>
            <a:endParaRPr/>
          </a:p>
          <a:p>
            <a:r>
              <a:t>[ACTION: Advance to Cursor. Do not open the application yet.]</a:t>
            </a:r>
          </a:p>
          <a:p>
            <a:endParaRPr/>
          </a:p>
          <a:p>
            <a:r>
              <a:t>DO:</a:t>
            </a:r>
          </a:p>
          <a:p>
            <a:r>
              <a:t>- Deliver greeting and agenda from this slide.</a:t>
            </a:r>
          </a:p>
          <a:p>
            <a:r>
              <a:t>- Transition to Cursor within 60 seconds.</a:t>
            </a:r>
          </a:p>
          <a:p>
            <a:endParaRPr/>
          </a:p>
          <a:p>
            <a:r>
              <a:t>DON'T:</a:t>
            </a:r>
          </a:p>
          <a:p>
            <a:r>
              <a:t>- Enumerate all seventeen sprint days.</a:t>
            </a:r>
          </a:p>
          <a:p>
            <a:r>
              <a:t>- Start the live app demo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— CLOSING (10:30–12:00)</a:t>
            </a:r>
          </a:p>
          <a:p>
            <a:endParaRPr/>
          </a:p>
          <a:p>
            <a:r>
              <a:t>[ON SCREEN: Slide 2]</a:t>
            </a:r>
          </a:p>
          <a:p>
            <a:endParaRPr/>
          </a:p>
          <a:p>
            <a:r>
              <a:t>SAY (after challenges segment, 9:00–10:30):</a:t>
            </a:r>
          </a:p>
          <a:p>
            <a:r>
              <a:t>"Before I conclude, I would like to summarise three challenges we encountered and the practices that resolved them.</a:t>
            </a:r>
          </a:p>
          <a:p>
            <a:endParaRPr/>
          </a:p>
          <a:p>
            <a:r>
              <a:t>First — integrating AI within a testable pipeline. Large language model APIs are non-deterministic and rate-limited. Our solution was MockAiService for the test profile, live Gemini only in dev/prod, and rate limiting in our development startup script.</a:t>
            </a:r>
          </a:p>
          <a:p>
            <a:endParaRPr/>
          </a:p>
          <a:p>
            <a:r>
              <a:t>Second — multi-tenant data isolation. Every repository query is scoped by user identifier — findByIdAndUserId — and security test TC-S01 audits that new endpoints do not expose cross-user data.</a:t>
            </a:r>
          </a:p>
          <a:p>
            <a:endParaRPr/>
          </a:p>
          <a:p>
            <a:r>
              <a:t>Third — scope control across a seventeen-day sprint. The deferred-features list in the MVP plan and day-scoped Agent Skills prevented feature creep. 'Build Day 4 — Expense API' produces substantially better outcomes than 'build an expense tracker.'</a:t>
            </a:r>
          </a:p>
          <a:p>
            <a:endParaRPr/>
          </a:p>
          <a:p>
            <a:r>
              <a:t>To conclude, three artefacts enabled this workflow at scale.</a:t>
            </a:r>
          </a:p>
          <a:p>
            <a:endParaRPr/>
          </a:p>
          <a:p>
            <a:r>
              <a:t>The MVP plan provided architectural and testing context for every agent session. Agent Skills translated sprint days into bounded, repeatable tasks. The test case catalog linked documentation to executable proof.</a:t>
            </a:r>
          </a:p>
          <a:p>
            <a:endParaRPr/>
          </a:p>
          <a:p>
            <a:r>
              <a:t>SpendSense demonstrates that a structured Cursor workflow can deliver a full-stack application with AI integration in seventeen days. The workflow itself — plan, skill, audit, implement, verify — is transferable to other services and codebases within our organisation.</a:t>
            </a:r>
          </a:p>
          <a:p>
            <a:endParaRPr/>
          </a:p>
          <a:p>
            <a:r>
              <a:t>Thank you for your attention. I am happy to take questions on skill authoring, prompt design, test strategy, or adaptation to your team's stack."</a:t>
            </a:r>
          </a:p>
          <a:p>
            <a:endParaRPr/>
          </a:p>
          <a:p>
            <a:r>
              <a:t>[PAUSE for Q&amp;A]</a:t>
            </a:r>
          </a:p>
          <a:p>
            <a:endParaRPr/>
          </a:p>
          <a:p>
            <a:r>
              <a:t>Suggested questions if the room is quiet:</a:t>
            </a:r>
          </a:p>
          <a:p>
            <a:r>
              <a:t>- How do we prevent the agent from modifying Flyway migrations that have already been applied?</a:t>
            </a:r>
          </a:p>
          <a:p>
            <a:r>
              <a:t>- When should we author a new skill versus issuing a one-off prompt?</a:t>
            </a:r>
          </a:p>
          <a:p>
            <a:r>
              <a:t>- What is our recommended review process for agent-generated pull requests?</a:t>
            </a:r>
          </a:p>
          <a:p>
            <a:endParaRPr/>
          </a:p>
          <a:p>
            <a:r>
              <a:t>DO:</a:t>
            </a:r>
          </a:p>
          <a:p>
            <a:r>
              <a:t>- Show this slide during the closing summary.</a:t>
            </a:r>
          </a:p>
          <a:p>
            <a:r>
              <a:t>- Invite questions; do not re-tour repository files.</a:t>
            </a:r>
          </a:p>
          <a:p>
            <a:endParaRPr/>
          </a:p>
          <a:p>
            <a:r>
              <a:t>DON'T:</a:t>
            </a:r>
          </a:p>
          <a:p>
            <a:r>
              <a:t>- Re-open plan.md, SKILL.md, or test-cases.md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02920" y="2331720"/>
            <a:ext cx="11185855" cy="3063240"/>
          </a:xfrm>
          <a:prstGeom prst="rect">
            <a:avLst/>
          </a:prstGeom>
          <a:solidFill>
            <a:srgbClr val="15233A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06440"/>
            <a:ext cx="111858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SPENDSENSE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3774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1 /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77239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Segoe UI"/>
              </a:defRPr>
            </a:pPr>
            <a:r>
              <a:rPr dirty="0" err="1"/>
              <a:t>SpendSense</a:t>
            </a:r>
            <a:r>
              <a:rPr dirty="0"/>
              <a:t> — Personal Expense Tracker with AI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193181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Segoe UI"/>
              </a:defRPr>
            </a:pPr>
            <a:r>
              <a:rPr lang="en-IN" dirty="0"/>
              <a:t>2 Week</a:t>
            </a:r>
            <a:r>
              <a:rPr dirty="0"/>
              <a:t> MVP Sprint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14600"/>
            <a:ext cx="105156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dirty="0">
                <a:solidFill>
                  <a:srgbClr val="22C55E"/>
                </a:solidFill>
                <a:latin typeface="Segoe UI"/>
              </a:rPr>
              <a:t>▸  </a:t>
            </a:r>
            <a:r>
              <a:rPr sz="1800" dirty="0">
                <a:solidFill>
                  <a:srgbClr val="F1F5F9"/>
                </a:solidFill>
                <a:latin typeface="Segoe UI"/>
              </a:rPr>
              <a:t>Delivered: JWT authentication, expenses, categories, dashboard, Gemini AI, CSV I/O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dirty="0">
                <a:solidFill>
                  <a:srgbClr val="22C55E"/>
                </a:solidFill>
                <a:latin typeface="Segoe UI"/>
              </a:rPr>
              <a:t>▸  </a:t>
            </a:r>
            <a:r>
              <a:rPr sz="1800" dirty="0">
                <a:solidFill>
                  <a:srgbClr val="F1F5F9"/>
                </a:solidFill>
                <a:latin typeface="Segoe UI"/>
              </a:rPr>
              <a:t>Stack: Spring Boot 3 + SQLite  |  React 19 + Vite  |  JUnit + </a:t>
            </a:r>
            <a:r>
              <a:rPr sz="1800" dirty="0" err="1">
                <a:solidFill>
                  <a:srgbClr val="F1F5F9"/>
                </a:solidFill>
                <a:latin typeface="Segoe UI"/>
              </a:rPr>
              <a:t>Vitest</a:t>
            </a:r>
            <a:r>
              <a:rPr sz="1800" dirty="0">
                <a:solidFill>
                  <a:srgbClr val="F1F5F9"/>
                </a:solidFill>
                <a:latin typeface="Segoe UI"/>
              </a:rPr>
              <a:t> + Playwright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dirty="0">
                <a:solidFill>
                  <a:srgbClr val="22C55E"/>
                </a:solidFill>
                <a:latin typeface="Segoe UI"/>
              </a:rPr>
              <a:t>▸  </a:t>
            </a:r>
            <a:r>
              <a:rPr sz="1800" dirty="0">
                <a:solidFill>
                  <a:srgbClr val="F1F5F9"/>
                </a:solidFill>
                <a:latin typeface="Segoe UI"/>
              </a:rPr>
              <a:t>Session focus: how Cursor accelerated delivery — plans, skills, tests — not UI alone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dirty="0">
                <a:solidFill>
                  <a:srgbClr val="22C55E"/>
                </a:solidFill>
                <a:latin typeface="Segoe UI"/>
              </a:rPr>
              <a:t>▸  </a:t>
            </a:r>
            <a:r>
              <a:rPr sz="1800" dirty="0">
                <a:solidFill>
                  <a:srgbClr val="F1F5F9"/>
                </a:solidFill>
                <a:latin typeface="Segoe UI"/>
              </a:rPr>
              <a:t>Agenda: repository tour  →  live demonstration  →  challenges and practices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89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4D399"/>
                </a:solidFill>
                <a:latin typeface="Segoe UI"/>
              </a:defRPr>
            </a:pPr>
            <a:r>
              <a:t>SpendSense is the proof. The Cursor workflow is the story.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502920" y="2697479"/>
            <a:ext cx="11185855" cy="3063240"/>
          </a:xfrm>
          <a:prstGeom prst="rect">
            <a:avLst/>
          </a:prstGeom>
          <a:solidFill>
            <a:srgbClr val="15233A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06440"/>
            <a:ext cx="111858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SPENDSENSE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3774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2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5156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Segoe UI"/>
              </a:defRPr>
            </a:pPr>
            <a:r>
              <a:t>Cursor Workflow That Scaled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Segoe UI"/>
              </a:defRPr>
            </a:pPr>
            <a:r>
              <a:t>Plan  →  Skill  →  Audit  →  Implement  →  Verify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95728"/>
            <a:ext cx="1234440" cy="347472"/>
          </a:xfrm>
          <a:prstGeom prst="rect">
            <a:avLst/>
          </a:prstGeom>
          <a:solidFill>
            <a:srgbClr val="064E3B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44144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7943" y="2414016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0824" y="2395728"/>
            <a:ext cx="1234440" cy="347472"/>
          </a:xfrm>
          <a:prstGeom prst="rect">
            <a:avLst/>
          </a:prstGeom>
          <a:solidFill>
            <a:srgbClr val="064E3B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30552" y="244144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414016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2395728"/>
            <a:ext cx="1234440" cy="347472"/>
          </a:xfrm>
          <a:prstGeom prst="rect">
            <a:avLst/>
          </a:prstGeom>
          <a:solidFill>
            <a:srgbClr val="064E3B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02736" y="244144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2414016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65192" y="2395728"/>
            <a:ext cx="1408176" cy="347472"/>
          </a:xfrm>
          <a:prstGeom prst="rect">
            <a:avLst/>
          </a:prstGeom>
          <a:solidFill>
            <a:srgbClr val="064E3B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74920" y="2441448"/>
            <a:ext cx="1225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Implement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414016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11112" y="2395728"/>
            <a:ext cx="1234440" cy="347472"/>
          </a:xfrm>
          <a:prstGeom prst="rect">
            <a:avLst/>
          </a:prstGeom>
          <a:solidFill>
            <a:srgbClr val="064E3B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0840" y="244144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880360"/>
            <a:ext cx="105156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22C55E"/>
                </a:solidFill>
                <a:latin typeface="Segoe UI"/>
              </a:rPr>
              <a:t>▸  </a:t>
            </a:r>
            <a:r>
              <a:rPr sz="1800">
                <a:solidFill>
                  <a:srgbClr val="F1F5F9"/>
                </a:solidFill>
                <a:latin typeface="Segoe UI"/>
              </a:rPr>
              <a:t>Three artefacts: MVP plan (.cursor/plans/) · Agent Skills (.cursor/skills/) · test-cases.md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22C55E"/>
                </a:solidFill>
                <a:latin typeface="Segoe UI"/>
              </a:rPr>
              <a:t>▸  </a:t>
            </a:r>
            <a:r>
              <a:rPr sz="1800">
                <a:solidFill>
                  <a:srgbClr val="F1F5F9"/>
                </a:solidFill>
                <a:latin typeface="Segoe UI"/>
              </a:rPr>
              <a:t>Challenges overcome: testable AI (MockAiService) · userId isolation (TC-S01) · day-scoped scope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22C55E"/>
                </a:solidFill>
                <a:latin typeface="Segoe UI"/>
              </a:rPr>
              <a:t>▸  </a:t>
            </a:r>
            <a:r>
              <a:rPr sz="1800">
                <a:solidFill>
                  <a:srgbClr val="F1F5F9"/>
                </a:solidFill>
                <a:latin typeface="Segoe UI"/>
              </a:rPr>
              <a:t>Best practices: audit before implement · TC-IDs wired to real tests · mvnw test + npm test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>
                <a:solidFill>
                  <a:srgbClr val="22C55E"/>
                </a:solidFill>
                <a:latin typeface="Segoe UI"/>
              </a:rPr>
              <a:t>▸  </a:t>
            </a:r>
            <a:r>
              <a:rPr sz="1800">
                <a:solidFill>
                  <a:srgbClr val="F1F5F9"/>
                </a:solidFill>
                <a:latin typeface="Segoe UI"/>
              </a:rPr>
              <a:t>Outcome: full-stack app with AI in seventeen days — workflow transferable across teams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89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4D399"/>
                </a:solidFill>
                <a:latin typeface="Segoe UI"/>
              </a:defRPr>
            </a:pPr>
            <a:r>
              <a:t>Cursor accelerates execution. Discipline keeps it shippable.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860</Words>
  <Application>Microsoft Office PowerPoint</Application>
  <PresentationFormat>Widescreen</PresentationFormat>
  <Paragraphs>87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Segoe UI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Saideep Bandarkar</cp:lastModifiedBy>
  <cp:revision>2</cp:revision>
  <dcterms:created xsi:type="dcterms:W3CDTF">2013-01-27T09:14:16Z</dcterms:created>
  <dcterms:modified xsi:type="dcterms:W3CDTF">2026-07-09T14:36:56Z</dcterms:modified>
  <cp:category/>
</cp:coreProperties>
</file>